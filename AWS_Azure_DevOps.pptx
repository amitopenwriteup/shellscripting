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69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982" y="1678484"/>
            <a:ext cx="64380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&amp; Azure DevOps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89206" y="2478584"/>
            <a:ext cx="3565589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52982" y="3198168"/>
            <a:ext cx="6438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Tools &amp; Cloud Formation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3039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21730"/>
            <a:ext cx="8382000" cy="1133475"/>
          </a:xfrm>
          <a:prstGeom prst="roundRect">
            <a:avLst>
              <a:gd name="adj" fmla="val 6723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21730"/>
            <a:ext cx="0" cy="1133475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412230"/>
            <a:ext cx="81027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AWS DevOps?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8650" y="1736080"/>
            <a:ext cx="81027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is a comprehensive suite of tools and services that enable organizations to automate and streamline software development, deployment, and operations processes in the cloud.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545705"/>
            <a:ext cx="4114800" cy="1733550"/>
          </a:xfrm>
          <a:prstGeom prst="roundRect">
            <a:avLst>
              <a:gd name="adj" fmla="val 43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69810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2945755"/>
            <a:ext cx="381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deployment cycles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as Code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testing &amp; monitoring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&amp; reliability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8200" y="2545705"/>
            <a:ext cx="4114800" cy="1733550"/>
          </a:xfrm>
          <a:prstGeom prst="roundRect">
            <a:avLst>
              <a:gd name="adj" fmla="val 43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2698105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945755"/>
            <a:ext cx="381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CodeCommit (Source Control)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 (Build Service)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CodeDeploy (Deployment)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CodePipeline (CI/CD)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enables continuous integration and continuous delivery at scale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4982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31255"/>
            <a:ext cx="8382000" cy="1133475"/>
          </a:xfrm>
          <a:prstGeom prst="roundRect">
            <a:avLst>
              <a:gd name="adj" fmla="val 672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21755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Azure DevOps?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745605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 is a complete DevOps toolchain for developing and deploying software. It provides integrated tools for managing the entire application lifecycle from planning to deployment.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536180"/>
            <a:ext cx="4114800" cy="1733550"/>
          </a:xfrm>
          <a:prstGeom prst="roundRect">
            <a:avLst>
              <a:gd name="adj" fmla="val 43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88580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936230"/>
            <a:ext cx="381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collaboration tools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project management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Multi-cloud deployment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analytics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8200" y="2536180"/>
            <a:ext cx="4114800" cy="1733550"/>
          </a:xfrm>
          <a:prstGeom prst="roundRect">
            <a:avLst>
              <a:gd name="adj" fmla="val 439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2688580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936230"/>
            <a:ext cx="381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Repos (Git repositories)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Pipelines (CI/CD)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Boards (Work tracking)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Artifacts (Package management)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 supports any language, platform, and cloud environment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CodeCommit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09390"/>
            <a:ext cx="8382000" cy="1024830"/>
          </a:xfrm>
          <a:prstGeom prst="roundRect">
            <a:avLst>
              <a:gd name="adj" fmla="val 743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309390"/>
            <a:ext cx="0" cy="102483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8084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Git Repository Hosting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762720"/>
            <a:ext cx="81415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managed source control service that hosts secure Git repositories. Eliminates the need to operate your own source control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505670"/>
            <a:ext cx="4105275" cy="1685925"/>
          </a:xfrm>
          <a:prstGeom prst="roundRect">
            <a:avLst>
              <a:gd name="adj" fmla="val 45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877145"/>
            <a:ext cx="38385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at rest and in transit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repository size limits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with AWS IAM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availability and scalability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9625" y="2639020"/>
            <a:ext cx="4143375" cy="1419225"/>
          </a:xfrm>
          <a:prstGeom prst="roundRect">
            <a:avLst>
              <a:gd name="adj" fmla="val 5369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2025" y="27914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72025" y="3029545"/>
            <a:ext cx="3838575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for application code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as Code storage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 on development projects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with Git tools and existing Git workflows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CodeBuild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90340"/>
            <a:ext cx="8382000" cy="1024830"/>
          </a:xfrm>
          <a:prstGeom prst="roundRect">
            <a:avLst>
              <a:gd name="adj" fmla="val 743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90340"/>
            <a:ext cx="0" cy="102483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6179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Managed Build Service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743670"/>
            <a:ext cx="81415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Compiles source code, runs tests, and produces deployment-ready software packages. Scales continuously and processes multiple builds concurrently.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505670"/>
            <a:ext cx="4105275" cy="1685925"/>
          </a:xfrm>
          <a:prstGeom prst="roundRect">
            <a:avLst>
              <a:gd name="adj" fmla="val 45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877145"/>
            <a:ext cx="38385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Pre-configured build environments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Docker images support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only for build time used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scaling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9625" y="2486620"/>
            <a:ext cx="4143375" cy="1724025"/>
          </a:xfrm>
          <a:prstGeom prst="roundRect">
            <a:avLst>
              <a:gd name="adj" fmla="val 4420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2025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Process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72025" y="28771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Source code retrieval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2025" y="31819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 environment setup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2025" y="34867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Execute build commands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2025" y="37915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Generate build artifacts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Java, Python, Node.js, Ruby, Go, Docker, and custom build environments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CodeDeploy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42690"/>
            <a:ext cx="8382000" cy="1024830"/>
          </a:xfrm>
          <a:prstGeom prst="roundRect">
            <a:avLst>
              <a:gd name="adj" fmla="val 743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042690"/>
            <a:ext cx="0" cy="102483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21414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Deployment Service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496020"/>
            <a:ext cx="81415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Automates application deployments to EC2 instances, on-premises servers, Lambda functions, and ECS services. Minimizes downtime during deployment.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238970"/>
            <a:ext cx="4105275" cy="2219325"/>
          </a:xfrm>
          <a:prstGeom prst="roundRect">
            <a:avLst>
              <a:gd name="adj" fmla="val 34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3723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Types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610445"/>
            <a:ext cx="39153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In-Place: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Stops application, installs new version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3200995"/>
            <a:ext cx="39153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Blue/Green: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New instances, traffic switched 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4350" y="3791545"/>
            <a:ext cx="39153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Traffic gradually shifted to new version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9625" y="2486620"/>
            <a:ext cx="4143375" cy="1724025"/>
          </a:xfrm>
          <a:prstGeom prst="roundRect">
            <a:avLst>
              <a:gd name="adj" fmla="val 4420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2025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772025" y="2877145"/>
            <a:ext cx="38385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rollback on failure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control and monitoring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for multiple platforms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CI/CD pipelines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with EC2, Lambda, ECS, and on-premises servers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CodePipeline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90340"/>
            <a:ext cx="8382000" cy="1024830"/>
          </a:xfrm>
          <a:prstGeom prst="roundRect">
            <a:avLst>
              <a:gd name="adj" fmla="val 743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90340"/>
            <a:ext cx="0" cy="102483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6179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Delivery Service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743670"/>
            <a:ext cx="81415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Automates the build, test, and deploy phases of your release process. Enables fast and reliable application updates with every code change.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505670"/>
            <a:ext cx="4105275" cy="1685925"/>
          </a:xfrm>
          <a:prstGeom prst="roundRect">
            <a:avLst>
              <a:gd name="adj" fmla="val 45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Stages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28771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Detect changes in 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31819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Build: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Compile and test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4350" y="34867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Test: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integration tests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4350" y="37915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Deploy: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Release to production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9625" y="2486620"/>
            <a:ext cx="4143375" cy="1724025"/>
          </a:xfrm>
          <a:prstGeom prst="roundRect">
            <a:avLst>
              <a:gd name="adj" fmla="val 4420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2025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72025" y="2877145"/>
            <a:ext cx="38385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workflow editor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 support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approval gates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third-party tools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Orchestrates the entire software release process from source to production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CloudFormation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90340"/>
            <a:ext cx="8382000" cy="1024830"/>
          </a:xfrm>
          <a:prstGeom prst="roundRect">
            <a:avLst>
              <a:gd name="adj" fmla="val 743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290340"/>
            <a:ext cx="0" cy="102483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461790"/>
            <a:ext cx="814158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as Code (IaC)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743670"/>
            <a:ext cx="81415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and provision all your cloud infrastructure resources using JSON or YAML templates. Automate infrastructure deployment and management at scale.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58070"/>
            <a:ext cx="4105275" cy="1381125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7914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32F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30295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Define infrastructure resources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33343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Stacks: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Deployed template instances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4350" y="3639145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Sets: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 across accounts/regions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9625" y="2486620"/>
            <a:ext cx="4143375" cy="1724025"/>
          </a:xfrm>
          <a:prstGeom prst="roundRect">
            <a:avLst>
              <a:gd name="adj" fmla="val 4420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2025" y="2639020"/>
            <a:ext cx="3915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772025" y="2877145"/>
            <a:ext cx="383857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 infrastructure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for infrastructure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dependency resolution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on errors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300+ AWS resource types for comprehensive infrastructure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6499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 Template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91208"/>
            <a:ext cx="8382000" cy="2533650"/>
          </a:xfrm>
          <a:prstGeom prst="roundRect">
            <a:avLst>
              <a:gd name="adj" fmla="val 3008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796308"/>
            <a:ext cx="4124325" cy="613321"/>
          </a:xfrm>
          <a:prstGeom prst="roundRect">
            <a:avLst>
              <a:gd name="adj" fmla="val 12424"/>
            </a:avLst>
          </a:prstGeom>
          <a:solidFill>
            <a:srgbClr val="FFF3E0"/>
          </a:solidFill>
          <a:ln w="19050">
            <a:solidFill>
              <a:srgbClr val="FF9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3929658"/>
            <a:ext cx="3934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Format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14350" y="4129683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or JSON format, supports functions like !Ref, !GetAtt for dynamic values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38675" y="3796308"/>
            <a:ext cx="4124325" cy="613321"/>
          </a:xfrm>
          <a:prstGeom prst="roundRect">
            <a:avLst>
              <a:gd name="adj" fmla="val 12424"/>
            </a:avLst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2025" y="3929658"/>
            <a:ext cx="3934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72025" y="4129683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parameters for flexibility, organize with nested stacks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can be modular and reusable across multiple environments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vs Azure DevOps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42690"/>
            <a:ext cx="4114800" cy="2205930"/>
          </a:xfrm>
          <a:prstGeom prst="roundRect">
            <a:avLst>
              <a:gd name="adj" fmla="val 34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61740"/>
            <a:ext cx="41148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233190"/>
            <a:ext cx="38862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3400" y="155317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400" y="1877020"/>
            <a:ext cx="38100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AWS service integration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Pay-per-use pricing model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deployment options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282952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AWS-centric infrastructure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8200" y="1042690"/>
            <a:ext cx="4114800" cy="2205930"/>
          </a:xfrm>
          <a:prstGeom prst="roundRect">
            <a:avLst>
              <a:gd name="adj" fmla="val 345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8200" y="1061740"/>
            <a:ext cx="41148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3190"/>
            <a:ext cx="388620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0600" y="155317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877020"/>
            <a:ext cx="38100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Multi-cloud and platform support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work tracking (Boards)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collaboration features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0600" y="282952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Enterprise teams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3420070"/>
            <a:ext cx="8382000" cy="1038225"/>
          </a:xfrm>
          <a:prstGeom prst="roundRect">
            <a:avLst>
              <a:gd name="adj" fmla="val 733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3553420"/>
            <a:ext cx="8277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Differences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14350" y="3791545"/>
            <a:ext cx="82776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AWS tools tightly integrated with AWS services; Azure DevOps platform-agnostic. </a:t>
            </a:r>
            <a:r>
              <a:rPr lang="en-US" sz="150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Pricing:</a:t>
            </a:r>
            <a:r>
              <a:rPr lang="en-US" sz="150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AWS per-usage model; Azure per-user or free tier.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1000" y="478988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7373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platforms offer robust DevOps capabilities with different optimization focuses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9320" y="889695"/>
            <a:ext cx="392506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34020" y="1613595"/>
            <a:ext cx="7675811" cy="2133600"/>
          </a:xfrm>
          <a:prstGeom prst="roundRect">
            <a:avLst>
              <a:gd name="adj" fmla="val 5357"/>
            </a:avLst>
          </a:prstGeom>
          <a:solidFill>
            <a:srgbClr val="FFFFFF">
              <a:alpha val="95000"/>
            </a:srgbClr>
          </a:solidFill>
          <a:ln/>
          <a:effectLst>
            <a:outerShdw blurRad="2286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38820" y="1918395"/>
            <a:ext cx="7066211" cy="1524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</a:t>
            </a: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excels in cloud-native AWS environments with integrated services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provides comprehensive multi-platform support and collaboration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CodeCommit, CodeBuild, CodeDeploy, CodePipeline</a:t>
            </a: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 complete CI/CD workflow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r>
              <a:rPr lang="en-US" sz="1350" b="1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</a:t>
            </a:r>
            <a:r>
              <a:rPr lang="en-US" sz="1350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enables Infrastructure as Code for reproducible deployments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7262" y="3975795"/>
            <a:ext cx="78293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platform that aligns with your infrastructure and team needs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&amp; Azure DevOps Overview</dc:title>
  <dc:subject>PptxGenJS Presentation</dc:subject>
  <dc:creator>DevOps Training</dc:creator>
  <cp:lastModifiedBy>john test</cp:lastModifiedBy>
  <cp:revision>1</cp:revision>
  <dcterms:created xsi:type="dcterms:W3CDTF">2026-01-23T09:01:58Z</dcterms:created>
  <dcterms:modified xsi:type="dcterms:W3CDTF">2026-01-23T09:49:01Z</dcterms:modified>
</cp:coreProperties>
</file>